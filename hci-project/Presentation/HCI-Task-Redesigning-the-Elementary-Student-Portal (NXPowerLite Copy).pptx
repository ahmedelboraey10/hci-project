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Default ContentType="image/jpeg" Extension="jpeg"/>
  <Default ContentType="image/jpg" Extension="jpg"/>
  <Default ContentType="image/svg+xml" Extension="svg"/>
  <Default ContentType="image/png" Extension="png"/>
  <Default ContentType="image/gif" Extension="gif"/>
  <Default ContentType="video/mp4" Extension="m4v"/>
  <Default ContentType="video/mp4" Extension="mp4"/>
  <Default ContentType="application/vnd.openxmlformats-officedocument.vmlDrawing" Extension="vml"/>
  <Default ContentType="application/vnd.openxmlformats-officedocument.spreadsheetml.sheet" Extension="xlsx"/>
  <Override ContentType="application/vnd.openxmlformats-officedocument.presentationml.presentation.main+xml" PartName="/ppt/presentation.xml"/>
  <Override ContentType="application/vnd.openxmlformats-officedocument.presentationml.notesMaster+xml" PartName="/ppt/notesMasters/notesMaster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3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5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6.xml"/>
  <Override ContentType="application/vnd.openxmlformats-officedocument.presentationml.slideMaster+xml" PartName="/ppt/slideMasters/slideMaster7.xml"/>
  <Override ContentType="application/vnd.openxmlformats-officedocument.presentationml.slide+xml" PartName="/ppt/slides/slide7.xml"/>
  <Override ContentType="application/vnd.openxmlformats-officedocument.presentationml.slideMaster+xml" PartName="/ppt/slideMasters/slideMaster8.xml"/>
  <Override ContentType="application/vnd.openxmlformats-officedocument.presentationml.slide+xml" PartName="/ppt/slides/slide8.xml"/>
  <Override ContentType="application/vnd.openxmlformats-officedocument.presentationml.slideMaster+xml" PartName="/ppt/slideMasters/slideMaster9.xml"/>
  <Override ContentType="application/vnd.openxmlformats-officedocument.presentationml.slide+xml" PartName="/ppt/slides/slide9.xml"/>
  <Override ContentType="application/vnd.openxmlformats-officedocument.presentationml.slideMaster+xml" PartName="/ppt/slideMasters/slideMaster10.xml"/>
  <Override ContentType="application/vnd.openxmlformats-officedocument.presentationml.slide+xml" PartName="/ppt/slides/slide10.xml"/>
  <Override ContentType="application/vnd.openxmlformats-officedocument.presentationml.slideMaster+xml" PartName="/ppt/slideMasters/slideMaster11.xml"/>
  <Override ContentType="application/vnd.openxmlformats-officedocument.presentationml.slide+xml" PartName="/ppt/slides/slide11.xml"/>
  <Override ContentType="application/vnd.openxmlformats-officedocument.presentationml.slideMaster+xml" PartName="/ppt/slideMasters/slideMaster12.xml"/>
  <Override ContentType="application/vnd.openxmlformats-officedocument.presentationml.slide+xml" PartName="/ppt/slides/slide12.xml"/>
  <Override ContentType="application/vnd.openxmlformats-officedocument.presentationml.slideMaster+xml" PartName="/ppt/slideMasters/slideMaster13.xml"/>
  <Override ContentType="application/vnd.openxmlformats-officedocument.presentationml.slide+xml" PartName="/ppt/slides/slide13.xml"/>
  <Override ContentType="application/vnd.openxmlformats-officedocument.presentationml.slideMaster+xml" PartName="/ppt/slideMasters/slideMaster14.xml"/>
  <Override ContentType="application/vnd.openxmlformats-officedocument.presentationml.slide+xml" PartName="/ppt/slides/slide14.xml"/>
  <Override ContentType="application/vnd.openxmlformats-officedocument.presentationml.slideMaster+xml" PartName="/ppt/slideMasters/slideMaster15.xml"/>
  <Override ContentType="application/vnd.openxmlformats-officedocument.presentationml.slide+xml" PartName="/ppt/slides/slide15.xml"/>
  <Override ContentType="application/vnd.openxmlformats-officedocument.presentationml.slideMaster+xml" PartName="/ppt/slideMasters/slideMaster16.xml"/>
  <Override ContentType="application/vnd.openxmlformats-officedocument.presentationml.slide+xml" PartName="/ppt/slides/slide16.xml"/>
  <Override ContentType="application/vnd.openxmlformats-officedocument.presentationml.slideMaster+xml" PartName="/ppt/slideMasters/slideMaster17.xml"/>
  <Override ContentType="application/vnd.openxmlformats-officedocument.presentationml.slide+xml" PartName="/ppt/slides/slide17.xml"/>
  <Override ContentType="application/vnd.openxmlformats-officedocument.presentationml.slideMaster+xml" PartName="/ppt/slideMasters/slideMaster18.xml"/>
  <Override ContentType="application/vnd.openxmlformats-officedocument.presentationml.slide+xml" PartName="/ppt/slides/slide18.xml"/>
  <Override ContentType="application/vnd.openxmlformats-officedocument.presentationml.slideMaster+xml" PartName="/ppt/slideMasters/slideMaster19.xml"/>
  <Override ContentType="application/vnd.openxmlformats-officedocument.presentationml.slide+xml" PartName="/ppt/slides/slide19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
		<Relationship Id="rId1" Target="docProps/app.xml" Type="http://schemas.openxmlformats.org/officeDocument/2006/relationships/extended-properties"/>
		<Relationship Id="rId2" Target="docProps/core.xml" Type="http://schemas.openxmlformats.org/package/2006/relationships/metadata/core-properties"/>
		<Relationship Id="rId3" Target="ppt/presentation.xml" Type="http://schemas.openxmlformats.org/officeDocument/2006/relationships/officeDocument"/>
		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4630400" cy="8229600"/>
  <p:notesSz cx="8229600" cy="14630400"/>
  <p:embeddedFontLst>
    <p:embeddedFont>
      <p:font typeface="Poppins"/>
      <p:regular r:id="rId26"/>
    </p:embeddedFont>
    <p:embeddedFont>
      <p:font typeface="Poppins"/>
      <p:regular r:id="rId27"/>
    </p:embeddedFont>
    <p:embeddedFont>
      <p:font typeface="Poppins"/>
      <p:regular r:id="rId28"/>
    </p:embeddedFont>
    <p:embeddedFont>
      <p:font typeface="Poppins"/>
      <p:regular r:id="rId2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02-1.jpeg" Type="http://schemas.openxmlformats.org/officeDocument/2006/relationships/image"/><Relationship Id="rId2" Target="../media/image-1002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_rels/slideLayout3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03-1.jpeg" Type="http://schemas.openxmlformats.org/officeDocument/2006/relationships/image"/><Relationship Id="rId2" Target="../media/image-1003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_rels/slideLayout4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04-1.jpeg" Type="http://schemas.openxmlformats.org/officeDocument/2006/relationships/image"/><Relationship Id="rId2" Target="../media/image-1004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_rels/slideLayout5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05-1.jpeg" Type="http://schemas.openxmlformats.org/officeDocument/2006/relationships/image"/><Relationship Id="rId2" Target="../media/image-1005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_rels/slideLayout6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06-1.jpeg" Type="http://schemas.openxmlformats.org/officeDocument/2006/relationships/image"/><Relationship Id="rId2" Target="../media/image-1006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_rels/slideLayout7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07-1.jpeg" Type="http://schemas.openxmlformats.org/officeDocument/2006/relationships/image"/><Relationship Id="rId2" Target="../media/image-1007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_rels/slideLayout8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08-1.jpeg" Type="http://schemas.openxmlformats.org/officeDocument/2006/relationships/image"/><Relationship Id="rId2" Target="../media/image-1008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_rels/slideLayout9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09-1.jpeg" Type="http://schemas.openxmlformats.org/officeDocument/2006/relationships/image"/><Relationship Id="rId2" Target="../media/image-1009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_rels/slideLayout10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10-1.jpeg" Type="http://schemas.openxmlformats.org/officeDocument/2006/relationships/image"/><Relationship Id="rId2" Target="../media/image-1010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_rels/slideLayout11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11-1.jpeg" Type="http://schemas.openxmlformats.org/officeDocument/2006/relationships/image"/><Relationship Id="rId2" Target="../media/image-1011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_rels/slideLayout12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12-1.jpeg" Type="http://schemas.openxmlformats.org/officeDocument/2006/relationships/image"/><Relationship Id="rId2" Target="../media/image-1012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_rels/slideLayout13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13-1.jpeg" Type="http://schemas.openxmlformats.org/officeDocument/2006/relationships/image"/><Relationship Id="rId2" Target="../media/image-1013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_rels/slideLayout14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14-1.jpeg" Type="http://schemas.openxmlformats.org/officeDocument/2006/relationships/image"/><Relationship Id="rId2" Target="../media/image-1014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_rels/slideLayout15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15-1.jpeg" Type="http://schemas.openxmlformats.org/officeDocument/2006/relationships/image"/><Relationship Id="rId2" Target="../media/image-1015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_rels/slideLayout16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16-1.jpeg" Type="http://schemas.openxmlformats.org/officeDocument/2006/relationships/image"/><Relationship Id="rId2" Target="../media/image-1016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_rels/slideLayout17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17-1.jpeg" Type="http://schemas.openxmlformats.org/officeDocument/2006/relationships/image"/><Relationship Id="rId2" Target="../media/image-1017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_rels/slideLayout18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18-1.jpeg" Type="http://schemas.openxmlformats.org/officeDocument/2006/relationships/image"/><Relationship Id="rId2" Target="../media/image-1018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_rels/slideLayout19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19-1.jpeg" Type="http://schemas.openxmlformats.org/officeDocument/2006/relationships/image"/><Relationship Id="rId2" Target="../media/image-1019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_rels/slideLayout20.xml.rels><?xml version="1.0" encoding="UTF-8" standalone="yes" ?><Relationships xmlns="http://schemas.openxmlformats.org/package/2006/relationships"><Relationship Id="rId3" Target="https://gamma.app/?utm_source=made-with-gamma" TargetMode="External" Type="http://schemas.openxmlformats.org/officeDocument/2006/relationships/hyperlink"/><Relationship Id="rId1" Target="../media/image-1020-1.jpeg" Type="http://schemas.openxmlformats.org/officeDocument/2006/relationships/image"/><Relationship Id="rId2" Target="../media/image-1020-2.png" Type="http://schemas.openxmlformats.org/officeDocument/2006/relationships/image"/><Relationship Id="rId4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DFE3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DFE3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 ?><Relationships xmlns="http://schemas.openxmlformats.org/package/2006/relationships"><Relationship Id="rId1" Target="../media/image-2-1.jpeg" Type="http://schemas.openxmlformats.org/officeDocument/2006/relationships/image"/><Relationship Id="rId2" Target="../slideLayouts/slideLayout3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 ?><Relationships xmlns="http://schemas.openxmlformats.org/package/2006/relationships"><Relationship Id="rId1" Target="../media/image-4-1.jpeg" Type="http://schemas.openxmlformats.org/officeDocument/2006/relationships/image"/><Relationship Id="rId2" Target="../slideLayouts/slideLayout5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 ?><Relationships xmlns="http://schemas.openxmlformats.org/package/2006/relationships"><Relationship Id="rId1" Target="../media/image-6-1.jpeg" Type="http://schemas.openxmlformats.org/officeDocument/2006/relationships/image"/><Relationship Id="rId2" Target="../slideLayouts/slideLayout7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 ?><Relationships xmlns="http://schemas.openxmlformats.org/package/2006/relationships"><Relationship Id="rId1" Target="../media/image-7-1.jpeg" Type="http://schemas.openxmlformats.org/officeDocument/2006/relationships/image"/><Relationship Id="rId2" Target="../slideLayouts/slideLayout8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 ?><Relationships xmlns="http://schemas.openxmlformats.org/package/2006/relationships"><Relationship Id="rId1" Target="../media/image-10-1.jpeg" Type="http://schemas.openxmlformats.org/officeDocument/2006/relationships/image"/><Relationship Id="rId2" Target="../media/image-10-2.jpeg" Type="http://schemas.openxmlformats.org/officeDocument/2006/relationships/image"/><Relationship Id="rId3" Target="../slideLayouts/slideLayout11.xml" Type="http://schemas.openxmlformats.org/officeDocument/2006/relationships/slideLayout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slideLayout" Target="../slideLayouts/slideLayout13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 ?><Relationships xmlns="http://schemas.openxmlformats.org/package/2006/relationships"><Relationship Id="rId1" Target="../media/image-14-1.png" Type="http://schemas.openxmlformats.org/officeDocument/2006/relationships/image"/><Relationship Id="rId2" Target="../media/image-14-2.jpeg" Type="http://schemas.openxmlformats.org/officeDocument/2006/relationships/image"/><Relationship Id="rId3" Target="../slideLayouts/slideLayout15.xml" Type="http://schemas.openxmlformats.org/officeDocument/2006/relationships/slideLayout"/><Relationship Id="rId4" Target="../notesSlides/notesSlide14.xml" Type="http://schemas.openxmlformats.org/officeDocument/2006/relationships/notesSlide"/></Relationships>
</file>

<file path=ppt/slides/_rels/slide15.xml.rels><?xml version="1.0" encoding="UTF-8" standalone="yes" ?><Relationships xmlns="http://schemas.openxmlformats.org/package/2006/relationships"><Relationship Id="rId1" Target="../media/image-15-1.jpeg" Type="http://schemas.openxmlformats.org/officeDocument/2006/relationships/image"/><Relationship Id="rId2" Target="../media/image-15-2.jpeg" Type="http://schemas.openxmlformats.org/officeDocument/2006/relationships/image"/><Relationship Id="rId3" Target="../slideLayouts/slideLayout16.xml" Type="http://schemas.openxmlformats.org/officeDocument/2006/relationships/slideLayout"/><Relationship Id="rId4" Target="../notesSlides/notesSlide15.xml" Type="http://schemas.openxmlformats.org/officeDocument/2006/relationships/notesSlide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8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1030962"/>
            <a:ext cx="1333214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49129" y="1513046"/>
            <a:ext cx="13332143" cy="1666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HCI Task: Redesigning the Elementary Student Portal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9129" y="3457575"/>
            <a:ext cx="1333214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Applying core Human-Computer Interaction (HCI) principles to analyze and improve the User Experience (UX) of a crucial student resource.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9129" y="3962876"/>
            <a:ext cx="1333214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27259" y="4676775"/>
            <a:ext cx="13054013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Objective: To analyze and improve the User Experience (UX) of a website by applying core Human-Computer Interaction principles.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129" y="4468178"/>
            <a:ext cx="22860" cy="1158954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8" name="Text 6"/>
          <p:cNvSpPr/>
          <p:nvPr/>
        </p:nvSpPr>
        <p:spPr>
          <a:xfrm>
            <a:off x="649129" y="5835729"/>
            <a:ext cx="13332143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129" y="6415207"/>
            <a:ext cx="13332143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129" y="6994684"/>
            <a:ext cx="13332143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4599" y="704136"/>
            <a:ext cx="3104078" cy="387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INITIAL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4599" y="1161098"/>
            <a:ext cx="13028057" cy="775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8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The "Before" Design: Identifying Usability Gaps</a:t>
            </a:r>
            <a:endParaRPr lang="en-US" sz="4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105" y="2196108"/>
            <a:ext cx="6478191" cy="48585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4599" y="7249001"/>
            <a:ext cx="13421201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1078468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INITIAL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9129" y="1569125"/>
            <a:ext cx="13332143" cy="1666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The "Before" Design: Identifying Usability Gaps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9129" y="3513653"/>
            <a:ext cx="1333214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Analysis of the original design (below) revealed several critical issues that caused lack of usability for young students.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9129" y="4018955"/>
            <a:ext cx="1333214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15541" y="4524256"/>
            <a:ext cx="7120533" cy="2626876"/>
          </a:xfrm>
          <a:prstGeom prst="roundRect">
            <a:avLst>
              <a:gd name="adj" fmla="val 16947"/>
            </a:avLst>
          </a:prstGeom>
          <a:solidFill>
            <a:srgbClr val="ECDFE3"/>
          </a:solidFill>
          <a:ln/>
        </p:spPr>
      </p:sp>
      <p:sp>
        <p:nvSpPr>
          <p:cNvPr id="7" name="Text 5"/>
          <p:cNvSpPr/>
          <p:nvPr/>
        </p:nvSpPr>
        <p:spPr>
          <a:xfrm>
            <a:off x="700921" y="5124212"/>
            <a:ext cx="5332690" cy="666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4D4D4D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Low Efficiency:</a:t>
            </a:r>
            <a:endParaRPr lang="en-US" sz="4150" dirty="0"/>
          </a:p>
        </p:txBody>
      </p:sp>
      <p:sp>
        <p:nvSpPr>
          <p:cNvPr id="8" name="Text 6"/>
          <p:cNvSpPr/>
          <p:nvPr/>
        </p:nvSpPr>
        <p:spPr>
          <a:xfrm>
            <a:off x="700921" y="5976104"/>
            <a:ext cx="6749772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functions, like the "Search this site," are small and hidden, resulting in slow and inefficient navigation.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828955" y="4524256"/>
            <a:ext cx="6293406" cy="2626876"/>
          </a:xfrm>
          <a:prstGeom prst="roundRect">
            <a:avLst>
              <a:gd name="adj" fmla="val 16947"/>
            </a:avLst>
          </a:prstGeom>
          <a:solidFill>
            <a:srgbClr val="ECDFE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335" y="4732853"/>
            <a:ext cx="5922645" cy="22096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938" y="509111"/>
            <a:ext cx="3326725" cy="41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INITIAL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7938" y="998934"/>
            <a:ext cx="13334524" cy="1663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The "Before" Design: Identifying Usability Gaps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7938" y="2939891"/>
            <a:ext cx="13334524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Analysis of the original design (below) revealed several critical issues that caused lack of usability for young students.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14588" y="3444359"/>
            <a:ext cx="7121604" cy="4281249"/>
          </a:xfrm>
          <a:prstGeom prst="roundRect">
            <a:avLst>
              <a:gd name="adj" fmla="val 10379"/>
            </a:avLst>
          </a:prstGeom>
          <a:solidFill>
            <a:srgbClr val="ECDFE3"/>
          </a:solidFill>
          <a:ln/>
        </p:spPr>
      </p:sp>
      <p:sp>
        <p:nvSpPr>
          <p:cNvPr id="6" name="Text 4"/>
          <p:cNvSpPr/>
          <p:nvPr/>
        </p:nvSpPr>
        <p:spPr>
          <a:xfrm>
            <a:off x="699730" y="4076938"/>
            <a:ext cx="4355306" cy="41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Poor Visibility &amp; Consistency: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99730" y="4677847"/>
            <a:ext cx="6751320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hard to see what's most important ; random icon shapes and sizes confuse the user.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99730" y="5436870"/>
            <a:ext cx="6751320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99730" y="5918240"/>
            <a:ext cx="3326725" cy="41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High Cognitive Load: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99730" y="6519148"/>
            <a:ext cx="6751320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chaotic layout forces visual scanning and processing of over 20 unique items, mentally exhausting young students.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828836" y="3444359"/>
            <a:ext cx="6294477" cy="4281249"/>
          </a:xfrm>
          <a:prstGeom prst="roundRect">
            <a:avLst>
              <a:gd name="adj" fmla="val 10379"/>
            </a:avLst>
          </a:prstGeom>
          <a:solidFill>
            <a:srgbClr val="ECDFE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3978" y="3652599"/>
            <a:ext cx="5924193" cy="38647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6152" y="509111"/>
            <a:ext cx="3317558" cy="414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INITIAL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6152" y="997506"/>
            <a:ext cx="13338096" cy="1658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The "Before" Design: Identifying Usability Gaps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6152" y="2933224"/>
            <a:ext cx="13338096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Analysis of the original design (below) revealed several critical issues that caused lack of usability for young students.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13278" y="3436263"/>
            <a:ext cx="7123271" cy="4284226"/>
          </a:xfrm>
          <a:prstGeom prst="roundRect">
            <a:avLst>
              <a:gd name="adj" fmla="val 10343"/>
            </a:avLst>
          </a:prstGeom>
          <a:solidFill>
            <a:srgbClr val="ECDFE3"/>
          </a:solidFill>
          <a:ln/>
        </p:spPr>
      </p:sp>
      <p:sp>
        <p:nvSpPr>
          <p:cNvPr id="6" name="Text 4"/>
          <p:cNvSpPr/>
          <p:nvPr/>
        </p:nvSpPr>
        <p:spPr>
          <a:xfrm>
            <a:off x="697825" y="4512707"/>
            <a:ext cx="6754178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97825" y="4992648"/>
            <a:ext cx="3434358" cy="414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Poor Emotional Design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97825" y="5591770"/>
            <a:ext cx="6754178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97825" y="6053257"/>
            <a:ext cx="6754178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messy, crowded page looks bad  and old , making students feel frustrated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828717" y="3436263"/>
            <a:ext cx="6295906" cy="4284226"/>
          </a:xfrm>
          <a:prstGeom prst="roundRect">
            <a:avLst>
              <a:gd name="adj" fmla="val 10343"/>
            </a:avLst>
          </a:prstGeom>
          <a:solidFill>
            <a:srgbClr val="ECDFE3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086" y="3643908"/>
            <a:ext cx="2295049" cy="38689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4355" y="436721"/>
            <a:ext cx="2846070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DESIGN SOLUTION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54355" y="855702"/>
            <a:ext cx="10298787" cy="711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The "After" Design: Structure and Clarity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267" y="1804749"/>
            <a:ext cx="5411748" cy="59880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1286113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DESIGN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9129" y="1776770"/>
            <a:ext cx="12061269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The "After" Design: Structure and Clarity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9129" y="2888099"/>
            <a:ext cx="1333214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redesign transformed the chaotic page into a clean, modern, and structured interface centered around user needs.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15541" y="3393400"/>
            <a:ext cx="6707029" cy="3550087"/>
          </a:xfrm>
          <a:prstGeom prst="roundRect">
            <a:avLst>
              <a:gd name="adj" fmla="val 12540"/>
            </a:avLst>
          </a:prstGeom>
          <a:solidFill>
            <a:srgbClr val="ECDFE3"/>
          </a:solidFill>
          <a:ln/>
        </p:spPr>
      </p:sp>
      <p:sp>
        <p:nvSpPr>
          <p:cNvPr id="6" name="Text 4"/>
          <p:cNvSpPr/>
          <p:nvPr/>
        </p:nvSpPr>
        <p:spPr>
          <a:xfrm>
            <a:off x="700921" y="4454962"/>
            <a:ext cx="5332690" cy="666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Search bar:</a:t>
            </a:r>
            <a:endParaRPr lang="en-US" sz="4150" dirty="0"/>
          </a:p>
        </p:txBody>
      </p:sp>
      <p:sp>
        <p:nvSpPr>
          <p:cNvPr id="7" name="Text 5"/>
          <p:cNvSpPr/>
          <p:nvPr/>
        </p:nvSpPr>
        <p:spPr>
          <a:xfrm>
            <a:off x="700921" y="5306854"/>
            <a:ext cx="6336268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large, centered search bar makes it fast and easy to find specific tools and content.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15451" y="3393400"/>
            <a:ext cx="6707029" cy="3550087"/>
          </a:xfrm>
          <a:prstGeom prst="roundRect">
            <a:avLst>
              <a:gd name="adj" fmla="val 12540"/>
            </a:avLst>
          </a:prstGeom>
          <a:solidFill>
            <a:srgbClr val="ECDFE3"/>
          </a:solidFill>
          <a:ln/>
        </p:spPr>
      </p:sp>
      <p:sp>
        <p:nvSpPr>
          <p:cNvPr id="9" name="Text 7"/>
          <p:cNvSpPr/>
          <p:nvPr/>
        </p:nvSpPr>
        <p:spPr>
          <a:xfrm>
            <a:off x="7600831" y="3560326"/>
            <a:ext cx="6336268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"After" Design: Organized for Clarity</a:t>
            </a:r>
            <a:endParaRPr lang="en-US" sz="11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779" y="4006215"/>
            <a:ext cx="6028373" cy="27286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847011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DESIGN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9129" y="1337667"/>
            <a:ext cx="12061269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The "After" Design: Structure and Clarity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9129" y="2448997"/>
            <a:ext cx="1333214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redesign transformed the chaotic page into a clean, modern, and structured interface centered around user needs.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15541" y="2954298"/>
            <a:ext cx="6707029" cy="4428292"/>
          </a:xfrm>
          <a:prstGeom prst="roundRect">
            <a:avLst>
              <a:gd name="adj" fmla="val 10053"/>
            </a:avLst>
          </a:prstGeom>
          <a:solidFill>
            <a:srgbClr val="ECDFE3"/>
          </a:solidFill>
          <a:ln/>
        </p:spPr>
      </p:sp>
      <p:sp>
        <p:nvSpPr>
          <p:cNvPr id="6" name="Text 4"/>
          <p:cNvSpPr/>
          <p:nvPr/>
        </p:nvSpPr>
        <p:spPr>
          <a:xfrm>
            <a:off x="700921" y="3662243"/>
            <a:ext cx="5332690" cy="666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Card design</a:t>
            </a:r>
            <a:endParaRPr lang="en-US" sz="4150" dirty="0"/>
          </a:p>
        </p:txBody>
      </p:sp>
      <p:sp>
        <p:nvSpPr>
          <p:cNvPr id="7" name="Text 5"/>
          <p:cNvSpPr/>
          <p:nvPr/>
        </p:nvSpPr>
        <p:spPr>
          <a:xfrm>
            <a:off x="700921" y="4514136"/>
            <a:ext cx="6336268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0921" y="4977765"/>
            <a:ext cx="6336268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uniform "card" design is used for all links, ensuring visual consistency across the board.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00921" y="5738098"/>
            <a:ext cx="6336268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00921" y="6201728"/>
            <a:ext cx="6336268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 is organized into logical, user-centered categories for quick browsing.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415451" y="2954298"/>
            <a:ext cx="6707029" cy="4428292"/>
          </a:xfrm>
          <a:prstGeom prst="roundRect">
            <a:avLst>
              <a:gd name="adj" fmla="val 10053"/>
            </a:avLst>
          </a:prstGeom>
          <a:solidFill>
            <a:srgbClr val="ECDFE3"/>
          </a:solidFill>
          <a:ln/>
        </p:spPr>
      </p:sp>
      <p:sp>
        <p:nvSpPr>
          <p:cNvPr id="12" name="Text 10"/>
          <p:cNvSpPr/>
          <p:nvPr/>
        </p:nvSpPr>
        <p:spPr>
          <a:xfrm>
            <a:off x="7600831" y="3121223"/>
            <a:ext cx="6336268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"After" Design: Organized for Clarity</a:t>
            </a:r>
            <a:endParaRPr lang="en-US" sz="11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419" y="3567113"/>
            <a:ext cx="5306973" cy="36068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1416248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DESIGN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9129" y="1906905"/>
            <a:ext cx="12061269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The "After" Design: Structure and Clarity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9129" y="3018234"/>
            <a:ext cx="1333214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redesign transformed the chaotic page into a clean, modern, and structured interface centered around user needs.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15541" y="3523536"/>
            <a:ext cx="6707029" cy="3289816"/>
          </a:xfrm>
          <a:prstGeom prst="roundRect">
            <a:avLst>
              <a:gd name="adj" fmla="val 13532"/>
            </a:avLst>
          </a:prstGeom>
          <a:solidFill>
            <a:srgbClr val="ECDFE3"/>
          </a:solidFill>
          <a:ln/>
        </p:spPr>
      </p:sp>
      <p:sp>
        <p:nvSpPr>
          <p:cNvPr id="6" name="Text 4"/>
          <p:cNvSpPr/>
          <p:nvPr/>
        </p:nvSpPr>
        <p:spPr>
          <a:xfrm>
            <a:off x="700921" y="3708916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High Efficiency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00921" y="4310777"/>
            <a:ext cx="6336268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(replacing the useful links section)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0921" y="4774406"/>
            <a:ext cx="6336268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 is organized into logical, user-centered categories for quick browsing.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00921" y="5553194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Spacing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00921" y="6155055"/>
            <a:ext cx="6336268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Strategic use of whitespace and clear typography improves readability and reduces visual noise.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415451" y="3523536"/>
            <a:ext cx="6707029" cy="3289816"/>
          </a:xfrm>
          <a:prstGeom prst="roundRect">
            <a:avLst>
              <a:gd name="adj" fmla="val 13532"/>
            </a:avLst>
          </a:prstGeom>
          <a:solidFill>
            <a:srgbClr val="ECDFE3"/>
          </a:solidFill>
          <a:ln/>
        </p:spPr>
      </p:sp>
      <p:sp>
        <p:nvSpPr>
          <p:cNvPr id="12" name="Text 10"/>
          <p:cNvSpPr/>
          <p:nvPr/>
        </p:nvSpPr>
        <p:spPr>
          <a:xfrm>
            <a:off x="7600831" y="3690461"/>
            <a:ext cx="6336268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"After" Design: Organized for Clarity</a:t>
            </a:r>
            <a:endParaRPr lang="en-US" sz="11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779" y="4136350"/>
            <a:ext cx="6028373" cy="20716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4237" y="443270"/>
            <a:ext cx="7995285" cy="724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Visualizing the Transformation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564237" y="1489829"/>
            <a:ext cx="13501926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side-by-side comparison highlights the improvement in organization, clarity, and overall The visual style.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4237" y="1929051"/>
            <a:ext cx="6670357" cy="5860852"/>
          </a:xfrm>
          <a:prstGeom prst="roundRect">
            <a:avLst>
              <a:gd name="adj" fmla="val 4126"/>
            </a:avLst>
          </a:prstGeom>
          <a:solidFill>
            <a:srgbClr val="ECDFE3"/>
          </a:solidFill>
          <a:ln/>
        </p:spPr>
      </p:sp>
      <p:sp>
        <p:nvSpPr>
          <p:cNvPr id="5" name="Text 3"/>
          <p:cNvSpPr/>
          <p:nvPr/>
        </p:nvSpPr>
        <p:spPr>
          <a:xfrm>
            <a:off x="1400294" y="2090261"/>
            <a:ext cx="4998125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Before: Chaotic and Inconsistent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25448" y="2621518"/>
            <a:ext cx="6347936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 20 icons with no visual grouping or clear hierarchy.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5448" y="2976086"/>
            <a:ext cx="6347936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endParaRPr lang="en-US" sz="1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103" y="3415308"/>
            <a:ext cx="5396508" cy="40472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95805" y="1929051"/>
            <a:ext cx="6670357" cy="5860852"/>
          </a:xfrm>
          <a:prstGeom prst="roundRect">
            <a:avLst>
              <a:gd name="adj" fmla="val 4126"/>
            </a:avLst>
          </a:prstGeom>
          <a:solidFill>
            <a:srgbClr val="ECDFE3"/>
          </a:solidFill>
          <a:ln/>
        </p:spPr>
      </p:sp>
      <p:sp>
        <p:nvSpPr>
          <p:cNvPr id="10" name="Text 7"/>
          <p:cNvSpPr/>
          <p:nvPr/>
        </p:nvSpPr>
        <p:spPr>
          <a:xfrm>
            <a:off x="8422481" y="2090261"/>
            <a:ext cx="4616887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After: Organized and Intuitive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7557016" y="2621518"/>
            <a:ext cx="6347936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Categorized content, uniform cards, and a clear path to key features.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613" y="3060740"/>
            <a:ext cx="4030623" cy="45679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985242"/>
            <a:ext cx="3773210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SUMMARY OF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9129" y="1475899"/>
            <a:ext cx="10282952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 More Usable and Effective Portal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9129" y="2587228"/>
            <a:ext cx="1333214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redesign successfully transformed the student portal from a frustrating, inefficient page into one that meets core usability goals: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9129" y="5372338"/>
            <a:ext cx="13332143" cy="22860"/>
          </a:xfrm>
          <a:prstGeom prst="roundRect">
            <a:avLst>
              <a:gd name="adj" fmla="val 1217116"/>
            </a:avLst>
          </a:prstGeom>
          <a:solidFill>
            <a:srgbClr val="D2C5C9"/>
          </a:solidFill>
          <a:ln/>
        </p:spPr>
      </p:sp>
      <p:sp>
        <p:nvSpPr>
          <p:cNvPr id="6" name="Shape 4"/>
          <p:cNvSpPr/>
          <p:nvPr/>
        </p:nvSpPr>
        <p:spPr>
          <a:xfrm>
            <a:off x="649129" y="3092529"/>
            <a:ext cx="4289465" cy="2279809"/>
          </a:xfrm>
          <a:prstGeom prst="roundRect">
            <a:avLst>
              <a:gd name="adj" fmla="val 12204"/>
            </a:avLst>
          </a:prstGeom>
          <a:solidFill>
            <a:srgbClr val="ECDFE3"/>
          </a:solidFill>
          <a:ln/>
        </p:spPr>
      </p:sp>
      <p:sp>
        <p:nvSpPr>
          <p:cNvPr id="7" name="Text 5"/>
          <p:cNvSpPr/>
          <p:nvPr/>
        </p:nvSpPr>
        <p:spPr>
          <a:xfrm>
            <a:off x="834509" y="3277910"/>
            <a:ext cx="3918704" cy="499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Effective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834509" y="3888938"/>
            <a:ext cx="3918704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 can successfully find and launch the tools they need to complete their educational tasks.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34509" y="4890254"/>
            <a:ext cx="3918704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170408" y="5395198"/>
            <a:ext cx="4289465" cy="1871901"/>
          </a:xfrm>
          <a:prstGeom prst="rect">
            <a:avLst/>
          </a:prstGeom>
          <a:solidFill>
            <a:srgbClr val="ECDFE3"/>
          </a:solidFill>
          <a:ln/>
        </p:spPr>
      </p:sp>
      <p:sp>
        <p:nvSpPr>
          <p:cNvPr id="11" name="Text 9"/>
          <p:cNvSpPr/>
          <p:nvPr/>
        </p:nvSpPr>
        <p:spPr>
          <a:xfrm>
            <a:off x="5355788" y="5580578"/>
            <a:ext cx="3918704" cy="499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Efficient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5355788" y="6191607"/>
            <a:ext cx="3918704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 can find tools </a:t>
            </a:r>
            <a:pPr algn="ctr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quickly</a:t>
            </a:r>
            <a:pPr algn="ctr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utilizing either the centralized search or the newly organized categories.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691687" y="3092529"/>
            <a:ext cx="4289465" cy="2168604"/>
          </a:xfrm>
          <a:prstGeom prst="roundRect">
            <a:avLst>
              <a:gd name="adj" fmla="val 12830"/>
            </a:avLst>
          </a:prstGeom>
          <a:solidFill>
            <a:srgbClr val="ECDFE3"/>
          </a:solidFill>
          <a:ln/>
        </p:spPr>
      </p:sp>
      <p:sp>
        <p:nvSpPr>
          <p:cNvPr id="14" name="Text 12"/>
          <p:cNvSpPr/>
          <p:nvPr/>
        </p:nvSpPr>
        <p:spPr>
          <a:xfrm>
            <a:off x="9877068" y="3277910"/>
            <a:ext cx="3918704" cy="499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Easy to Learn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9877068" y="3888938"/>
            <a:ext cx="3918704" cy="1186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consistent structure, uniform elements, and logical flow make the portal predictable for new and returning students.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214" y="1290638"/>
            <a:ext cx="5103852" cy="56483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5543" y="422672"/>
            <a:ext cx="8072914" cy="137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Key Takeaways: HCI Principles in Practice</a:t>
            </a:r>
            <a:endParaRPr lang="en-US" sz="4300" dirty="0"/>
          </a:p>
        </p:txBody>
      </p:sp>
      <p:sp>
        <p:nvSpPr>
          <p:cNvPr id="5" name="Text 1"/>
          <p:cNvSpPr/>
          <p:nvPr/>
        </p:nvSpPr>
        <p:spPr>
          <a:xfrm>
            <a:off x="535543" y="2026801"/>
            <a:ext cx="8072914" cy="489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focusing on fundamental design principles, we achieved a significant improvement in the student experience.</a:t>
            </a:r>
            <a:endParaRPr lang="en-US" sz="12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5543" y="2688431"/>
            <a:ext cx="458986" cy="45898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85743" y="2793563"/>
            <a:ext cx="3299460" cy="41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Consistency</a:t>
            </a:r>
            <a:endParaRPr lang="en-US" sz="2550" dirty="0"/>
          </a:p>
        </p:txBody>
      </p:sp>
      <p:sp>
        <p:nvSpPr>
          <p:cNvPr id="8" name="Text 3"/>
          <p:cNvSpPr/>
          <p:nvPr/>
        </p:nvSpPr>
        <p:spPr>
          <a:xfrm>
            <a:off x="1185743" y="3297674"/>
            <a:ext cx="7422713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Uniform card design and repeatable interaction patterns.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5543" y="3848457"/>
            <a:ext cx="458986" cy="45898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85743" y="3953589"/>
            <a:ext cx="3299460" cy="41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Visibility</a:t>
            </a:r>
            <a:endParaRPr lang="en-US" sz="2550" dirty="0"/>
          </a:p>
        </p:txBody>
      </p:sp>
      <p:sp>
        <p:nvSpPr>
          <p:cNvPr id="11" name="Text 5"/>
          <p:cNvSpPr/>
          <p:nvPr/>
        </p:nvSpPr>
        <p:spPr>
          <a:xfrm>
            <a:off x="1185743" y="4457700"/>
            <a:ext cx="7422713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placing the most powerful feature: the search bar.</a:t>
            </a:r>
            <a:endParaRPr lang="en-US" sz="12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5543" y="5008483"/>
            <a:ext cx="458986" cy="45898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5743" y="5113615"/>
            <a:ext cx="3299460" cy="41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Affordance</a:t>
            </a:r>
            <a:endParaRPr lang="en-US" sz="2550" dirty="0"/>
          </a:p>
        </p:txBody>
      </p:sp>
      <p:sp>
        <p:nvSpPr>
          <p:cNvPr id="14" name="Text 7"/>
          <p:cNvSpPr/>
          <p:nvPr/>
        </p:nvSpPr>
        <p:spPr>
          <a:xfrm>
            <a:off x="1185743" y="5617726"/>
            <a:ext cx="7422713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Designing elements that clearly look and behave like buttons or links.</a:t>
            </a:r>
            <a:endParaRPr lang="en-US" sz="12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5543" y="6168509"/>
            <a:ext cx="458986" cy="45898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85743" y="6273641"/>
            <a:ext cx="3299460" cy="41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Categorization</a:t>
            </a:r>
            <a:endParaRPr lang="en-US" sz="2550" dirty="0"/>
          </a:p>
        </p:txBody>
      </p:sp>
      <p:sp>
        <p:nvSpPr>
          <p:cNvPr id="17" name="Text 9"/>
          <p:cNvSpPr/>
          <p:nvPr/>
        </p:nvSpPr>
        <p:spPr>
          <a:xfrm>
            <a:off x="1185743" y="6777752"/>
            <a:ext cx="7422713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Applying User-Centered Design to create logical information architecture.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535543" y="7194590"/>
            <a:ext cx="8072914" cy="61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result is a significantly better and more usable digital experience for every elementary school student.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1283613"/>
            <a:ext cx="1333214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49129" y="1765697"/>
            <a:ext cx="13332143" cy="1666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Extending the design: Better Support for Everyone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9129" y="3710226"/>
            <a:ext cx="1333214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Making it easy to get help on any device.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27259" y="4424124"/>
            <a:ext cx="13054013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expanded the design to include critical support issues, ensuring students can get help quickly whether they are on a laptop or a tablet.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9129" y="4215527"/>
            <a:ext cx="22860" cy="1158954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7" name="Text 5"/>
          <p:cNvSpPr/>
          <p:nvPr/>
        </p:nvSpPr>
        <p:spPr>
          <a:xfrm>
            <a:off x="649129" y="5583079"/>
            <a:ext cx="13332143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129" y="6162556"/>
            <a:ext cx="13332143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129" y="6742033"/>
            <a:ext cx="13332143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020" y="426006"/>
            <a:ext cx="5966936" cy="694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FAQ design (According)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541020" y="1429464"/>
            <a:ext cx="13548360" cy="49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side-by-side comparison highlights the organization, clarity, and overall The visual style for the frequently asked questions (faq) 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9697" y="2097643"/>
            <a:ext cx="10428803" cy="5705832"/>
          </a:xfrm>
          <a:prstGeom prst="roundRect">
            <a:avLst>
              <a:gd name="adj" fmla="val 6502"/>
            </a:avLst>
          </a:prstGeom>
          <a:solidFill>
            <a:srgbClr val="ECDFE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40" y="2271474"/>
            <a:ext cx="8266152" cy="51662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20663" y="2097643"/>
            <a:ext cx="3187541" cy="5705832"/>
          </a:xfrm>
          <a:prstGeom prst="roundRect">
            <a:avLst>
              <a:gd name="adj" fmla="val 11639"/>
            </a:avLst>
          </a:prstGeom>
          <a:solidFill>
            <a:srgbClr val="ECDFE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5719" y="2271474"/>
            <a:ext cx="2297311" cy="49719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75206" y="7417237"/>
            <a:ext cx="2878455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8757" y="415409"/>
            <a:ext cx="9252585" cy="678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Contact Support: Visibility &amp; Feedback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528757" y="1396127"/>
            <a:ext cx="13572887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HCI Principles:</a:t>
            </a:r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Feedback, Visibility of System Status.</a:t>
            </a:r>
            <a:endParaRPr lang="en-US" sz="11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                                          if the students or the parents did not get the information they needed they can contact support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9933" y="2049423"/>
            <a:ext cx="10305098" cy="5765244"/>
          </a:xfrm>
          <a:prstGeom prst="roundRect">
            <a:avLst>
              <a:gd name="adj" fmla="val 6289"/>
            </a:avLst>
          </a:prstGeom>
          <a:solidFill>
            <a:srgbClr val="ECDFE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287" y="2885361"/>
            <a:ext cx="8078391" cy="37157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0905" y="6770965"/>
            <a:ext cx="10003155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0883622" y="2049423"/>
            <a:ext cx="3334345" cy="5765244"/>
          </a:xfrm>
          <a:prstGeom prst="roundRect">
            <a:avLst>
              <a:gd name="adj" fmla="val 10874"/>
            </a:avLst>
          </a:prstGeom>
          <a:solidFill>
            <a:srgbClr val="ECDFE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4593" y="2219325"/>
            <a:ext cx="2328982" cy="50478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034593" y="7437120"/>
            <a:ext cx="3032403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3176" y="505301"/>
            <a:ext cx="7218045" cy="82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Live Chat: Desktop View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510778" y="1606391"/>
            <a:ext cx="4643676" cy="5672138"/>
          </a:xfrm>
          <a:prstGeom prst="roundRect">
            <a:avLst>
              <a:gd name="adj" fmla="val 9499"/>
            </a:avLst>
          </a:prstGeom>
          <a:solidFill>
            <a:srgbClr val="ECDFE3"/>
          </a:solidFill>
          <a:ln/>
        </p:spPr>
      </p:sp>
      <p:sp>
        <p:nvSpPr>
          <p:cNvPr id="4" name="Text 2"/>
          <p:cNvSpPr/>
          <p:nvPr/>
        </p:nvSpPr>
        <p:spPr>
          <a:xfrm>
            <a:off x="694492" y="2394347"/>
            <a:ext cx="3302318" cy="412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Side-by-Side 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94492" y="2990850"/>
            <a:ext cx="4276249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large screens, we show the chat and the help information next to each other.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4492" y="3762732"/>
            <a:ext cx="3302318" cy="412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Status Indicator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94492" y="4359235"/>
            <a:ext cx="4276249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green "Online" light shows students that support is ready to help instantly.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492" y="5131118"/>
            <a:ext cx="3302318" cy="412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Familiar Design: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94492" y="5727621"/>
            <a:ext cx="4276249" cy="882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chat looks like popular apps (like WhatsApp), so students already know how to use 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45668" y="1606391"/>
            <a:ext cx="8781455" cy="5672138"/>
          </a:xfrm>
          <a:prstGeom prst="roundRect">
            <a:avLst>
              <a:gd name="adj" fmla="val 7776"/>
            </a:avLst>
          </a:prstGeom>
          <a:solidFill>
            <a:srgbClr val="ECDFE3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9382" y="1813084"/>
            <a:ext cx="8414028" cy="525875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3176" y="7485221"/>
            <a:ext cx="13344049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857" y="445413"/>
            <a:ext cx="6018252" cy="727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Live Chat: Mobile Flow</a:t>
            </a:r>
            <a:endParaRPr lang="en-US" sz="4550" dirty="0"/>
          </a:p>
        </p:txBody>
      </p:sp>
      <p:sp>
        <p:nvSpPr>
          <p:cNvPr id="3" name="Shape 1"/>
          <p:cNvSpPr/>
          <p:nvPr/>
        </p:nvSpPr>
        <p:spPr>
          <a:xfrm>
            <a:off x="450294" y="1415891"/>
            <a:ext cx="6551890" cy="5929908"/>
          </a:xfrm>
          <a:prstGeom prst="roundRect">
            <a:avLst>
              <a:gd name="adj" fmla="val 6556"/>
            </a:avLst>
          </a:prstGeom>
          <a:solidFill>
            <a:srgbClr val="ECDFE3"/>
          </a:solidFill>
          <a:ln/>
        </p:spPr>
      </p:sp>
      <p:sp>
        <p:nvSpPr>
          <p:cNvPr id="4" name="Text 2"/>
          <p:cNvSpPr/>
          <p:nvPr/>
        </p:nvSpPr>
        <p:spPr>
          <a:xfrm>
            <a:off x="612219" y="2677239"/>
            <a:ext cx="2910483" cy="36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Smart Layout: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12219" y="3203019"/>
            <a:ext cx="622804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mobile, we separated the "Info" from the "Chat" to avoid crowding the small screen.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12219" y="3883104"/>
            <a:ext cx="2910483" cy="36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Step-by-Step: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12219" y="4408884"/>
            <a:ext cx="6228040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First, the student sees the working hours and a "Start" button.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2219" y="4724638"/>
            <a:ext cx="6228040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Then, the screen smoothly scrolls down to the chat area.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2219" y="5145643"/>
            <a:ext cx="2910483" cy="36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Better Experience: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12219" y="5671423"/>
            <a:ext cx="622804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makes the mobile experience feel like a real app, not just a squeezed website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71730" y="1415891"/>
            <a:ext cx="3749873" cy="5929908"/>
          </a:xfrm>
          <a:prstGeom prst="roundRect">
            <a:avLst>
              <a:gd name="adj" fmla="val 10367"/>
            </a:avLst>
          </a:prstGeom>
          <a:solidFill>
            <a:srgbClr val="ECDFE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1222" y="1598057"/>
            <a:ext cx="2350770" cy="509504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33655" y="6875264"/>
            <a:ext cx="3426023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1091148" y="1415891"/>
            <a:ext cx="3103959" cy="5929908"/>
          </a:xfrm>
          <a:prstGeom prst="roundRect">
            <a:avLst>
              <a:gd name="adj" fmla="val 12524"/>
            </a:avLst>
          </a:prstGeom>
          <a:solidFill>
            <a:srgbClr val="ECDFE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0836" y="1598057"/>
            <a:ext cx="2384584" cy="51607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253073" y="6940987"/>
            <a:ext cx="2780109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66857" y="7527965"/>
            <a:ext cx="13496687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623530"/>
            <a:ext cx="5093494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SUMMARY OF NEW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9129" y="1114187"/>
            <a:ext cx="6642735" cy="666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 Complete Support System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649129" y="2058829"/>
            <a:ext cx="1333214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extended the simple and clean design to all support pages.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9129" y="5140643"/>
            <a:ext cx="13332143" cy="22860"/>
          </a:xfrm>
          <a:prstGeom prst="roundRect">
            <a:avLst>
              <a:gd name="adj" fmla="val 1217116"/>
            </a:avLst>
          </a:prstGeom>
          <a:solidFill>
            <a:srgbClr val="D2C5C9"/>
          </a:solidFill>
          <a:ln/>
        </p:spPr>
      </p:sp>
      <p:sp>
        <p:nvSpPr>
          <p:cNvPr id="6" name="Shape 4"/>
          <p:cNvSpPr/>
          <p:nvPr/>
        </p:nvSpPr>
        <p:spPr>
          <a:xfrm>
            <a:off x="649129" y="2564130"/>
            <a:ext cx="4289465" cy="2576513"/>
          </a:xfrm>
          <a:prstGeom prst="roundRect">
            <a:avLst>
              <a:gd name="adj" fmla="val 10799"/>
            </a:avLst>
          </a:prstGeom>
          <a:solidFill>
            <a:srgbClr val="ECDFE3"/>
          </a:solidFill>
          <a:ln/>
        </p:spPr>
      </p:sp>
      <p:sp>
        <p:nvSpPr>
          <p:cNvPr id="7" name="Text 5"/>
          <p:cNvSpPr/>
          <p:nvPr/>
        </p:nvSpPr>
        <p:spPr>
          <a:xfrm>
            <a:off x="834509" y="2749510"/>
            <a:ext cx="3918704" cy="499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FAQ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834509" y="3360539"/>
            <a:ext cx="3918704" cy="1186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Organized:</a:t>
            </a:r>
            <a:pPr algn="ctr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We used expandable lists to keep the page short and tidy. Students can find answers quickly without getting lost.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34509" y="4658558"/>
            <a:ext cx="3918704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170408" y="5163503"/>
            <a:ext cx="4289465" cy="2465308"/>
          </a:xfrm>
          <a:prstGeom prst="rect">
            <a:avLst/>
          </a:prstGeom>
          <a:solidFill>
            <a:srgbClr val="ECDFE3"/>
          </a:solidFill>
          <a:ln/>
        </p:spPr>
      </p:sp>
      <p:sp>
        <p:nvSpPr>
          <p:cNvPr id="11" name="Text 9"/>
          <p:cNvSpPr/>
          <p:nvPr/>
        </p:nvSpPr>
        <p:spPr>
          <a:xfrm>
            <a:off x="5355788" y="5348883"/>
            <a:ext cx="3918704" cy="499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Live Chat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5355788" y="5959912"/>
            <a:ext cx="3918704" cy="1483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Layout:</a:t>
            </a:r>
            <a:pPr algn="ctr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design changes based on the device. On desktop, it shows everything at once. On mobile, it splits into two steps to fit the small screen perfectly.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691687" y="2564130"/>
            <a:ext cx="4289465" cy="2465308"/>
          </a:xfrm>
          <a:prstGeom prst="roundRect">
            <a:avLst>
              <a:gd name="adj" fmla="val 11286"/>
            </a:avLst>
          </a:prstGeom>
          <a:solidFill>
            <a:srgbClr val="ECDFE3"/>
          </a:solidFill>
          <a:ln/>
        </p:spPr>
      </p:sp>
      <p:sp>
        <p:nvSpPr>
          <p:cNvPr id="14" name="Text 12"/>
          <p:cNvSpPr/>
          <p:nvPr/>
        </p:nvSpPr>
        <p:spPr>
          <a:xfrm>
            <a:off x="9877068" y="2749510"/>
            <a:ext cx="3918704" cy="499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Contact Support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9877068" y="3360539"/>
            <a:ext cx="3918704" cy="1483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Simple:</a:t>
            </a:r>
            <a:pPr algn="ctr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removed all distractions. The form has large, clear inputs that are easy to use on touch screens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3109436"/>
            <a:ext cx="6665952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Created by :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9129" y="4313515"/>
            <a:ext cx="13332143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marL="342900" indent="-342900">
              <a:lnSpc>
                <a:spcPts val="23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احمد محمد السيد محمد البرعي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9129" y="4749284"/>
            <a:ext cx="13332143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marL="342900" indent="-342900">
              <a:lnSpc>
                <a:spcPts val="23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محمود الحسين محمد ماضي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2025-12-17T15:03:52Z</dcterms:created>
  <dcterms:modified xsi:type="dcterms:W3CDTF">2025-12-17T15:03:52Z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2138119</vt:lpwstr>
  </property>
  <property fmtid="{D5CDD505-2E9C-101B-9397-08002B2CF9AE}" name="NXPowerLiteSettings" pid="3">
    <vt:lpwstr>F70005D002A000</vt:lpwstr>
  </property>
  <property fmtid="{D5CDD505-2E9C-101B-9397-08002B2CF9AE}" name="NXPowerLiteVersion" pid="4">
    <vt:lpwstr>D10.3.2</vt:lpwstr>
  </property>
</Properties>
</file>